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480560"/>
            <a:ext cx="5120640" cy="512064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5303520"/>
            <a:ext cx="4023360" cy="40233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658368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5056" y="877824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874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HEALTHBENEFITS.SHOP   ·   MEMBER EXPERIENCE PARTNERSHIP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228600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Designed to be used.</a:t>
            </a:r>
            <a:endParaRPr lang="en-US" sz="4700" dirty="0"/>
          </a:p>
          <a:p>
            <a:pPr algn="l" indent="0" marL="0">
              <a:lnSpc>
                <a:spcPts val="54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to bring them </a:t>
            </a:r>
            <a:pPr algn="l" indent="0" marL="0">
              <a:lnSpc>
                <a:spcPts val="5400"/>
              </a:lnSpc>
              <a:buNone/>
            </a:pPr>
            <a:r>
              <a:rPr lang="en-US" sz="47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back.</a:t>
            </a:r>
            <a:endParaRPr lang="en-US" sz="4700" dirty="0"/>
          </a:p>
        </p:txBody>
      </p:sp>
      <p:sp>
        <p:nvSpPr>
          <p:cNvPr id="8" name="Text 5"/>
          <p:cNvSpPr/>
          <p:nvPr/>
        </p:nvSpPr>
        <p:spPr>
          <a:xfrm>
            <a:off x="685800" y="4297680"/>
            <a:ext cx="8503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supplemental-benefit shopping experience members actually return to — reminders, budget-fit reorders, and a full-circle rhythm that lifts utilization and CAHPS, quarter after quarter. Built to work behind your card, strengthening the benefit you already offer.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benefit card &amp; OTC administration partners   ·   July 2026   ·   CHT Ventures   ·   healthbenefits.shop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16"/>
              </a:lnSpc>
              <a:buNone/>
            </a:pPr>
            <a:r>
              <a:rPr lang="en-US" sz="29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 experience decides Stars — and plan renewals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of your offering that wins or loses plan contracts is the one you don't control today.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747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68880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5" y="264444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31012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Stars hinge on experience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32688" y="3767328"/>
            <a:ext cx="28895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grades plans on member experience and quality outcomes together. The OTC shopping experience is part of that score.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2148840"/>
            <a:ext cx="34747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46888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725" y="264444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81728" y="331012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 is in the RFP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681728" y="3767328"/>
            <a:ext cx="28895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increasingly write member-experience expectations into how they choose — and renew — their benefit vendors.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4747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2468880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765" y="264444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30768" y="331012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rail is table stakes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430768" y="3767328"/>
            <a:ext cx="28895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money and gating a login no longer differentiate. The advantage moved to the member's screen.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0080" y="562356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0E2233"/>
          </a:solidFill>
          <a:ln/>
        </p:spPr>
      </p:sp>
      <p:sp>
        <p:nvSpPr>
          <p:cNvPr id="21" name="Text 16"/>
          <p:cNvSpPr/>
          <p:nvPr/>
        </p:nvSpPr>
        <p:spPr>
          <a:xfrm>
            <a:off x="914400" y="56235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 that decides your plan contracts is member experience — a healthcare competency, not a payments one.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008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   ·   Member Experience Partnership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8321040" y="643737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·   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NEXT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4"/>
              </a:lnSpc>
              <a:buNone/>
            </a:pPr>
            <a:r>
              <a:rPr lang="en-US" sz="26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You've mastered the infrastructure. The next advantage is the experience.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30352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77440"/>
            <a:ext cx="658368" cy="658368"/>
          </a:xfrm>
          <a:prstGeom prst="ellipse">
            <a:avLst/>
          </a:prstGeom>
          <a:solidFill>
            <a:srgbClr val="0E22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128" y="253544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4505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YOU'VE ALREADY BUILT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60120" y="32918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money on the card</a:t>
            </a:r>
            <a:endParaRPr lang="en-US" sz="1400" dirty="0"/>
          </a:p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Gating the login / SSO handoff</a:t>
            </a:r>
            <a:endParaRPr lang="en-US" sz="1400" dirty="0"/>
          </a:p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the benefit balance</a:t>
            </a:r>
            <a:endParaRPr lang="en-US" sz="1400" dirty="0"/>
          </a:p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baseline compliance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45352" y="2057400"/>
            <a:ext cx="530352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237744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400" y="253544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88352" y="245059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NEXT ADVANTAGE LIVES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65392" y="32918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member's shopping experience</a:t>
            </a:r>
            <a:endParaRPr lang="en-US" sz="1400" dirty="0"/>
          </a:p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CAHPS &amp; member-engagement scores</a:t>
            </a:r>
            <a:endParaRPr lang="en-US" sz="1400" dirty="0"/>
          </a:p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 that drive reimbursement</a:t>
            </a:r>
            <a:endParaRPr lang="en-US" sz="1400" dirty="0"/>
          </a:p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 &amp; book-of-plans growth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built the hard part.  </a:t>
            </a:r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experience is the next frontier — a different competency, and where we come in.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008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   ·   Member Experience Partnership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8321040" y="643737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·   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STARS LEAK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16"/>
              </a:lnSpc>
              <a:buNone/>
            </a:pPr>
            <a:r>
              <a:rPr lang="en-US" sz="29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benefit works. The shopping experience doesn't.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member try to use the OTC benefit on today's tools.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7472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377440"/>
            <a:ext cx="658368" cy="65836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696" y="253544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774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Members don't know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32688" y="3154680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never realize they have an allowance — or that it quietly expires unused each quarter.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103120"/>
            <a:ext cx="347472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1728" y="237744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736" y="253544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3774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returns nonsense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81728" y="3154680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“bladder support” into today's catalogs and get denture cleanser and hearing-aid batteries — thousands of disconnected SKUs, no real curation.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103120"/>
            <a:ext cx="347472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30768" y="2377440"/>
            <a:ext cx="658368" cy="65836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776" y="2535448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35440" y="23774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Eligibility &amp; checkout stall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430768" y="3154680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eligibility, declined checkouts and clunky catalogs turn a funded benefit into a chore.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475488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0E223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" y="475488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0E2233"/>
          </a:solidFill>
          <a:ln/>
        </p:spPr>
      </p:sp>
      <p:sp>
        <p:nvSpPr>
          <p:cNvPr id="22" name="Shape 17"/>
          <p:cNvSpPr/>
          <p:nvPr/>
        </p:nvSpPr>
        <p:spPr>
          <a:xfrm>
            <a:off x="1005840" y="5074920"/>
            <a:ext cx="777240" cy="7772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378" y="5261458"/>
            <a:ext cx="404165" cy="40416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057400" y="4892040"/>
            <a:ext cx="9235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a typical member: 72, managing diabetes, $75 this quarter.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hits a wall of SKUs, gives up, and the benefit lapses — a poor experience that drags on your plan clients' CAHPS scores. And every lapse is a transaction that never happened on your card.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052560" y="4315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   ·   Member Experience Partnership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8321040" y="643737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·   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MEMBER-EXPERIENCE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HealthBenefits.Shop — the shopping experience, done right, in your plan's brand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104120" y="4572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10104120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say what they care about and set a budget; we build a compatible, budget-fit cart in seconds — no diagnosis, no PHI. White-labeled to the health plan.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606040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41" y="2750881"/>
            <a:ext cx="313822" cy="3138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5786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Needs-based smart filter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463040" y="28986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pick goals; we filter thousands of SKUs to what fits — no PHI.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3538728"/>
            <a:ext cx="603504" cy="603504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41" y="368356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5112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Budget-fit carts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463040" y="383133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solver spends the allowance on purpose, fully compatible.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85800" y="4471416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41" y="4616257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4439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cadence &amp; reminders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63040" y="476402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Hold-and-ship reorders match benefit resets — recurring engagement.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85800" y="5404104"/>
            <a:ext cx="603504" cy="603504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41" y="5548945"/>
            <a:ext cx="313822" cy="31382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53766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Plan-branded, privacy-clean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1463040" y="56967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plan's logo, our experience, zero PHI custody.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766560" y="1691640"/>
            <a:ext cx="4782312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766560" y="1691640"/>
            <a:ext cx="4782312" cy="868680"/>
          </a:xfrm>
          <a:prstGeom prst="roundRect">
            <a:avLst>
              <a:gd name="adj" fmla="val 9474"/>
            </a:avLst>
          </a:prstGeom>
          <a:solidFill>
            <a:srgbClr val="0E2233"/>
          </a:solidFill>
          <a:ln/>
        </p:spPr>
      </p:sp>
      <p:sp>
        <p:nvSpPr>
          <p:cNvPr id="25" name="Shape 19"/>
          <p:cNvSpPr/>
          <p:nvPr/>
        </p:nvSpPr>
        <p:spPr>
          <a:xfrm>
            <a:off x="6766560" y="2286000"/>
            <a:ext cx="4782312" cy="274320"/>
          </a:xfrm>
          <a:prstGeom prst="rect">
            <a:avLst/>
          </a:prstGeom>
          <a:solidFill>
            <a:srgbClr val="0E2233"/>
          </a:solidFill>
          <a:ln/>
        </p:spPr>
      </p:sp>
      <p:sp>
        <p:nvSpPr>
          <p:cNvPr id="26" name="Text 20"/>
          <p:cNvSpPr/>
          <p:nvPr/>
        </p:nvSpPr>
        <p:spPr>
          <a:xfrm>
            <a:off x="7040880" y="1810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Personalized Cart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040880" y="21579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care about:  Mobility &amp; daily wellness</a:t>
            </a:r>
            <a:endParaRPr lang="en-US" sz="11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2807208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452360" y="2770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Joint-support supplement</a:t>
            </a:r>
            <a:endParaRPr lang="en-US" sz="12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9168" y="3374136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5236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sleeve</a:t>
            </a:r>
            <a:endParaRPr lang="en-US" sz="125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9168" y="3941064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452360" y="39044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wellness multivitamin</a:t>
            </a:r>
            <a:endParaRPr lang="en-US" sz="125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9168" y="4507992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452360" y="44714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 electrolyte mix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7059168" y="5138928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E6F1F2"/>
          </a:solidFill>
          <a:ln/>
        </p:spPr>
      </p:sp>
      <p:sp>
        <p:nvSpPr>
          <p:cNvPr id="37" name="Text 27"/>
          <p:cNvSpPr/>
          <p:nvPr/>
        </p:nvSpPr>
        <p:spPr>
          <a:xfrm>
            <a:off x="7223760" y="51389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fit:  </a:t>
            </a:r>
            <a:pPr indent="0" marL="0">
              <a:buNone/>
            </a:pPr>
            <a:r>
              <a:rPr lang="en-US" sz="1250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allowance optimized</a:t>
            </a:r>
            <a:endParaRPr lang="en-US" sz="1250" dirty="0"/>
          </a:p>
        </p:txBody>
      </p:sp>
      <p:sp>
        <p:nvSpPr>
          <p:cNvPr id="38" name="Text 28"/>
          <p:cNvSpPr/>
          <p:nvPr/>
        </p:nvSpPr>
        <p:spPr>
          <a:xfrm>
            <a:off x="64008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   ·   Member Experience Partnership</a:t>
            </a:r>
            <a:endParaRPr lang="en-US" sz="950" dirty="0"/>
          </a:p>
        </p:txBody>
      </p:sp>
      <p:sp>
        <p:nvSpPr>
          <p:cNvPr id="39" name="Text 29"/>
          <p:cNvSpPr/>
          <p:nvPr/>
        </p:nvSpPr>
        <p:spPr>
          <a:xfrm>
            <a:off x="8321040" y="643737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·   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CLEAN DIVISION OF LABOR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16"/>
              </a:lnSpc>
              <a:buNone/>
            </a:pPr>
            <a:r>
              <a:rPr lang="en-US" sz="29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of us doing what we do best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carry none of the member-experience burden.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0352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50592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128" y="260860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4505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keep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329184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benefit card &amp; payment rail</a:t>
            </a:r>
            <a:endParaRPr lang="en-US" sz="1350" dirty="0"/>
          </a:p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relationship &amp; contract</a:t>
            </a:r>
            <a:endParaRPr lang="en-US" sz="1350" dirty="0"/>
          </a:p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login &amp; member gateway</a:t>
            </a:r>
            <a:endParaRPr lang="en-US" sz="1350" dirty="0"/>
          </a:p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control of funds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45352" y="2148840"/>
            <a:ext cx="530352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65392" y="2450592"/>
            <a:ext cx="658368" cy="65836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400" y="2608600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88352" y="24505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own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65392" y="329184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member-facing shopping experience</a:t>
            </a:r>
            <a:endParaRPr lang="en-US" sz="1350" dirty="0"/>
          </a:p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Curation, filtering &amp; budget-fit carts</a:t>
            </a:r>
            <a:endParaRPr lang="en-US" sz="1350" dirty="0"/>
          </a:p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eligibility &amp; onboarding</a:t>
            </a:r>
            <a:endParaRPr lang="en-US" sz="1350" dirty="0"/>
          </a:p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member continuity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0E2233"/>
          </a:solidFill>
          <a:ln/>
        </p:spPr>
      </p:sp>
      <p:sp>
        <p:nvSpPr>
          <p:cNvPr id="16" name="Text 12"/>
          <p:cNvSpPr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touch your card, your rail, or your plan relationship.  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scenes, a national fulfillment partner ships the boxes — the member sees only your plan's brand.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4008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   ·   Member Experience Partnership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321040" y="643737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·   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MEMBERS 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16"/>
              </a:lnSpc>
              <a:buNone/>
            </a:pPr>
            <a:r>
              <a:rPr lang="en-US" sz="29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Capabilities a payments company can't easily build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outcomes, powered by CHT's platform and technology partners.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395728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696" y="2553736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774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Curated, needs-based carts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32688" y="3154680"/>
            <a:ext cx="4809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Condition-aware bundles aligned to quality measures — guidance without a single PHI question.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53912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395728"/>
            <a:ext cx="658368" cy="65836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528" y="2553736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51192" y="23774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eligibility, verified at login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446520" y="3154680"/>
            <a:ext cx="4809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weekly or daily eligibility files to exchange, reconcile, or manage with the plan — verification happens the moment a member signs in.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050792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32688" y="4343400"/>
            <a:ext cx="658368" cy="65836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96" y="4501408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432511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Seamless year-over-year continuity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932688" y="5102352"/>
            <a:ext cx="4809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preferences and reorders persist across the January reset — no annual drop-off.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53912" y="4050792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46520" y="434340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528" y="4501408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51192" y="432511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Consumer-grade clarity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6446520" y="5102352"/>
            <a:ext cx="4809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and generic-savings guidance that make the benefit feel effortless.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4008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   ·   Member Experience Partnership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8321040" y="643737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·   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PARTNER, DON'T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16"/>
              </a:lnSpc>
              <a:buNone/>
            </a:pPr>
            <a:r>
              <a:rPr lang="en-US" sz="29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extension of services isn't always a good thing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85216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395728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Companies that stretch past their core mission tend to stumble.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3246120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fulfillment operator in this category tried to own the member-experience technology — and struggled. A payments company would hit the same wall: healthcare-literate member UX, with Stars fluency, is a 12–18 month specialized build.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60120" y="470916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E6F1F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48920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470916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led member-experience UX for the category's largest OTC-benefit shopping platform. We've already built this once.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75120" y="2103120"/>
            <a:ext cx="487375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49440" y="221284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12–18 mo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8823960" y="221284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staff and build the UX competency in-house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75120" y="3355848"/>
            <a:ext cx="487375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949440" y="3465576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today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8823960" y="3465576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platform already runs on real OTC catalog data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675120" y="4608576"/>
            <a:ext cx="487375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949440" y="4718304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8823960" y="4718304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we custody — and zero overlap with your core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4008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   ·   Member Experience Partnership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321040" y="643737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·   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PAYS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4"/>
              </a:lnSpc>
              <a:buNone/>
            </a:pPr>
            <a:r>
              <a:rPr lang="en-US" sz="26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experience → stickier plans → stronger renewals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4203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5336" y="2212848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901" y="2388413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3580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experience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419856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actually use the benefit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163824" y="1965960"/>
            <a:ext cx="3017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447288" y="1965960"/>
            <a:ext cx="254203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52544" y="2212848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109" y="238841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84448" y="303580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Higher engagement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84448" y="3419856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Lifts CAHPS &amp; quality signal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971032" y="1965960"/>
            <a:ext cx="3017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6254496" y="1965960"/>
            <a:ext cx="254203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59752" y="2212848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317" y="2388413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91656" y="303580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Stars &amp; retention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391656" y="3419856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plan clients score better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778240" y="1965960"/>
            <a:ext cx="3017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9061704" y="1965960"/>
            <a:ext cx="254203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66960" y="2212848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2525" y="2388413"/>
            <a:ext cx="380390" cy="38039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98864" y="303580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win renewals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9198864" y="3419856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vendor plans keep &amp; expand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40080" y="44348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60120" y="470916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183" y="4845223"/>
            <a:ext cx="294803" cy="29480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91640" y="46817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Portfolio leverage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960120" y="52303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integration lifts the experience across your entire book of plans — the Stars lift compounds.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6153912" y="44348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473952" y="470916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0015" y="4845223"/>
            <a:ext cx="294803" cy="294803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05472" y="46817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Aligned economics</a:t>
            </a:r>
            <a:endParaRPr lang="en-US" sz="1450" dirty="0"/>
          </a:p>
        </p:txBody>
      </p:sp>
      <p:sp>
        <p:nvSpPr>
          <p:cNvPr id="36" name="Text 28"/>
          <p:cNvSpPr/>
          <p:nvPr/>
        </p:nvSpPr>
        <p:spPr>
          <a:xfrm>
            <a:off x="6473952" y="52303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members transact more — on purpose — which is your revenue, too, not just the plan's Stars.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64008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   ·   Member Experience Partnership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8321040" y="643737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·   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16"/>
              </a:lnSpc>
              <a:buNone/>
            </a:pPr>
            <a:r>
              <a:rPr lang="en-US" sz="29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low-risk data &amp; integration exploration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commitment — a scoped exploration to prove the lift on a single plan.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63040" y="21488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the integration surface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4963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handoff, eligibility, checkout — you keep your systems.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1546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63040" y="31089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data exchange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4564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in, engagement signal back. PHI stays out of scope.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1148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63040" y="40690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one plan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44165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branded experience for a single plan population.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507492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463040" y="50292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 the lift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537667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Engagement, bundle completion, quarterly reorder, CAHPS-relevant experience.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0" y="2194560"/>
            <a:ext cx="4690872" cy="3657600"/>
          </a:xfrm>
          <a:prstGeom prst="roundRect">
            <a:avLst>
              <a:gd name="adj" fmla="val 2250"/>
            </a:avLst>
          </a:prstGeom>
          <a:solidFill>
            <a:srgbClr val="0E223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0" y="2194560"/>
            <a:ext cx="4690872" cy="3657600"/>
          </a:xfrm>
          <a:prstGeom prst="roundRect">
            <a:avLst>
              <a:gd name="adj" fmla="val 2250"/>
            </a:avLst>
          </a:prstGeom>
          <a:solidFill>
            <a:srgbClr val="0E2233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251460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605" y="2690165"/>
            <a:ext cx="380390" cy="38039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046720" y="25877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7178040" y="34290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are shaping next-year benefit designs and vendor selections now. A member-experience upgrade needs runway — starting the exploration this quarter puts you ahead of the next renewal cycle.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178040" y="50292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risk.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every system you have. We prove the experience on one plan.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4008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   ·   Member Experience Partnership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321040" y="643737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·   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480560"/>
            <a:ext cx="5120640" cy="512064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5303520"/>
            <a:ext cx="4023360" cy="40233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658368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5056" y="877824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INVITATION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2240280"/>
            <a:ext cx="8869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1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move the money. We make the shopping worth doing. The plan gets the Stars.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85800" y="3977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the card, the rail, and the plan relationship. We bring a live, plan-branded member experience — and the technology partnerships behind it — that turns the OTC benefit into a Star-ratings advantage across your entire book of plans.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5257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scope a 30-minute exploration call.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CHT Ventures   ·   healthbenefits.shop   ·   endesignstudio@gmail.com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2026-07-27T01:46:06Z</dcterms:created>
  <dcterms:modified xsi:type="dcterms:W3CDTF">2026-07-27T01:46:06Z</dcterms:modified>
</cp:coreProperties>
</file>