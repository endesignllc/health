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6314A"/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8595360" y="1280160"/>
            <a:ext cx="4937760" cy="4937760"/>
          </a:xfrm>
          <a:prstGeom prst="arc">
            <a:avLst>
              <a:gd name="adj1" fmla="val 600000"/>
              <a:gd name="adj2" fmla="val 9000000"/>
            </a:avLst>
          </a:prstGeom>
          <a:ln w="889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788920"/>
            <a:ext cx="1371600" cy="137160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7252" y="3159252"/>
            <a:ext cx="630936" cy="63093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1097280" cy="1097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FULFILLMENT PARTNERSHIP DISCUSSION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3504" y="178308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HealthBenefits.Shop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 Fulfillment Partner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640080" y="38862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the fulfillment rail for the Medicare OTC benefit — a recurring, plan-funded consumables stream, routed to the partner who already has the network.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58368" y="5166360"/>
            <a:ext cx="3017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Pradeep  ·  June 2026  ·  Mike / Endesign  ·  healthbenefits.shop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— TOTAL TO ADDRESSABLE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funded, recurring market — solve OTC, then expand the basket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896112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$25–30B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474720" y="1947672"/>
            <a:ext cx="7754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Shippable supplemental product spend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474720" y="2313432"/>
            <a:ext cx="7754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+ healthy food + home-health goods — everything you can put in a box.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43000" y="2852928"/>
            <a:ext cx="9902952" cy="896112"/>
          </a:xfrm>
          <a:prstGeom prst="rect">
            <a:avLst/>
          </a:prstGeom>
          <a:solidFill>
            <a:srgbClr val="0B5E6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285292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$10–15B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977640" y="2971800"/>
            <a:ext cx="6748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Condition-relevant product spend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77640" y="3337560"/>
            <a:ext cx="6748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tied to real member health needs, where guidance matters most.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45920" y="3877056"/>
            <a:ext cx="8897112" cy="896112"/>
          </a:xfrm>
          <a:prstGeom prst="rect">
            <a:avLst/>
          </a:prstGeom>
          <a:solidFill>
            <a:srgbClr val="16314A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0" y="3877056"/>
            <a:ext cx="118872" cy="89611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387705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$5–10B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480560" y="3995928"/>
            <a:ext cx="5742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 we can influence with guidance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480560" y="4361688"/>
            <a:ext cx="5742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basket size, utilization, reorder frequency — our addressable market.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48840" y="4901184"/>
            <a:ext cx="7891272" cy="896112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4901184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~$7B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983480" y="5020056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OTC today — our proven beachhead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83480" y="5385816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start. ~$5B of it goes UNSPENT every year (≈30% utilization).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OTC.  </a:t>
            </a:r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no-PHI guidance engine then extends across the full shippable basket — every category you already fulfill.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— BY CATEGORY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$25–30B breaks down — by shippable category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0" y="2148840"/>
            <a:ext cx="0" cy="346557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709160" y="57150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03720" y="2148840"/>
            <a:ext cx="0" cy="3465576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537960" y="57150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products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3108960" cy="27432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$7–10B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devices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679192"/>
            <a:ext cx="146304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2633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$3–5B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072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products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3118104"/>
            <a:ext cx="128016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36008" y="30723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$2–5B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Eyewear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3557016"/>
            <a:ext cx="109728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53128" y="3511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$2–4B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supplies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3995928"/>
            <a:ext cx="73152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87368" y="3950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$1–3B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medical equip.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4434840"/>
            <a:ext cx="73152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87368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$1–3B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828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health products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4873752"/>
            <a:ext cx="73152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87368" y="4828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$1–3B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266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Incontinence products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5312664"/>
            <a:ext cx="548640" cy="274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04488" y="5266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$1–2B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32520" y="2194560"/>
            <a:ext cx="2926080" cy="324612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32520" y="2194560"/>
            <a:ext cx="292608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0" y="24231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SHIPPABLE PRODUCT SPEND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0" y="29260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$25–30B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8961120" y="37947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Best-estimate midpoint of a $19–37B range. OTC is the largest and most scalable category — and our entry point.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Estimates, annual. Shippable product categories only — excludes service benefits (dental visits, transportation, fitness). Sources: CHPA; industry estimates.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DOLLARS SIT IDLE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benefit works. The shopping experience doesn't.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611880" cy="10058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868680" cy="868680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2520544"/>
            <a:ext cx="399593" cy="399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 don't know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never realize they have an allowance — or that it expires unused each quarter.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5112" y="192024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920240"/>
            <a:ext cx="3611880" cy="10058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Shape 9"/>
          <p:cNvSpPr/>
          <p:nvPr/>
        </p:nvSpPr>
        <p:spPr>
          <a:xfrm>
            <a:off x="4645152" y="2286000"/>
            <a:ext cx="868680" cy="868680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696" y="2520544"/>
            <a:ext cx="399593" cy="3995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Eligibility is confusing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365760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disconnected SKUs across clunky catalogs. Members can't tell what qualifies.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192024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01584" y="1920240"/>
            <a:ext cx="3611880" cy="10058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Shape 14"/>
          <p:cNvSpPr/>
          <p:nvPr/>
        </p:nvSpPr>
        <p:spPr>
          <a:xfrm>
            <a:off x="8421624" y="2286000"/>
            <a:ext cx="868680" cy="868680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168" y="2520544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1624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Fulfillment is fragmented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21624" y="365760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patchwork of legacy OTC vendors with slow, dated shopping and shipping experiences.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109960" cy="109728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4937760"/>
            <a:ext cx="118872" cy="1097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5230368"/>
            <a:ext cx="530352" cy="530352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75" y="5373563"/>
            <a:ext cx="243962" cy="2439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50292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opportunity: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unredeemed dollar is GMV that never reached your warehouse. We fix the front-end, and funded demand starts flowing — predictably, every quarter.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HealthBenefits.Shop is the smart front-end that creates the demand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needs-based shopping layer for the OTC benefit. Members say what they care about and set a budget; we instantly build a compatible, budget-fit cart — no PHI ever requested or stored. We turn an idle allowance into qualified, recurring orders.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410712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3558845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Needs-based smart filter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8620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pick goals; we filter thousands of SKUs to what fits — no diagnoses, no PHI.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215384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4379976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4528109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430682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Budget-fit carts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86200" y="430682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 assembles a cart that spends the allowance on purpose, fully compatible.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184648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534924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549737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2760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cadence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886200" y="52760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Hold-and-ship reorders match benefit resets — recurring, subscription-like volume.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0" y="1783080"/>
            <a:ext cx="4343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0" y="1783080"/>
            <a:ext cx="4343400" cy="64008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Personalized Cart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543800" y="2606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looking for:  Mobility support &amp; daily wellness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543800" y="3154680"/>
            <a:ext cx="3886200" cy="475488"/>
          </a:xfrm>
          <a:prstGeom prst="rect">
            <a:avLst/>
          </a:prstGeom>
          <a:solidFill>
            <a:srgbClr val="F5F8F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27355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46720" y="3154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support supplement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543800" y="3721608"/>
            <a:ext cx="3886200" cy="475488"/>
          </a:xfrm>
          <a:prstGeom prst="rect">
            <a:avLst/>
          </a:prstGeom>
          <a:solidFill>
            <a:srgbClr val="F5F8F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84048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46720" y="37216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sleeve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543800" y="4288536"/>
            <a:ext cx="3886200" cy="475488"/>
          </a:xfrm>
          <a:prstGeom prst="rect">
            <a:avLst/>
          </a:prstGeom>
          <a:solidFill>
            <a:srgbClr val="F5F8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440740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46720" y="42885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wellness multivitamin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7543800" y="4855464"/>
            <a:ext cx="3886200" cy="475488"/>
          </a:xfrm>
          <a:prstGeom prst="rect">
            <a:avLst/>
          </a:prstGeom>
          <a:solidFill>
            <a:srgbClr val="F5F8F9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4974336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046720" y="48554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electrolyte mix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7543800" y="5468112"/>
            <a:ext cx="388620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28"/>
          <p:cNvSpPr/>
          <p:nvPr/>
        </p:nvSpPr>
        <p:spPr>
          <a:xfrm>
            <a:off x="7680960" y="54681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allowance optimized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PARTNERSHIP SPLITS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clean division of labor — no B2B2C burden on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5394960" cy="777240"/>
          </a:xfrm>
          <a:prstGeom prst="rect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99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own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member-facing experience &amp; demand generation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intelligence — GTIN canonical mapping across catalogs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Needs-based filtering &amp; budget-fit cart engine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relationships and the no-PHI privacy posture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74520"/>
            <a:ext cx="5394960" cy="77724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996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74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own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&amp; inventory for OTC consumables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 &amp; ship — leveraging your existing network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delivery, tracking &amp; same-day / next-day speed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and customer-service at scale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RIGHT PARTNER BRINGS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capabilities this needs — already in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13232" cy="713232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34141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at scale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953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fulfillment &amp; last-mile network legacy OTC vendors can't match — built for exactly this volume.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148840"/>
            <a:ext cx="713232" cy="713232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005" y="234141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Fast, reliable delivery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953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and next-day speed turns a clunky benefit into an experience seniors actually use.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148840"/>
            <a:ext cx="713232" cy="713232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477" y="234141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21488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&amp; GTIN infra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75904" y="2953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consumables catalog keyed to GTINs — our mapping layer plugs straight in.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160520"/>
            <a:ext cx="713232" cy="713232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33" y="4353093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consumer brand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49651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aging population that already shops the brand daily. Zero behavior change required.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8862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60520"/>
            <a:ext cx="713232" cy="713232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005" y="4353093"/>
            <a:ext cx="328087" cy="3280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&amp; CS at scale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49651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logistics and support that a recurring health-consumables program needs from day one.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8862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160520"/>
            <a:ext cx="713232" cy="713232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477" y="4353093"/>
            <a:ext cx="328087" cy="3280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44584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adjacency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75904" y="49651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health or pharmacy services a recurring, funded OTC stream slots naturally into.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 allowance becomes recurring, predictable GMV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OTC utilization toward the funded amount routes incremental, plan-paid order volume to you — recurring every quarter, with near-zero bad debt because the plan funds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246120"/>
            <a:ext cx="100584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461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Plan-funded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order is pre-paid by the health 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4114800"/>
            <a:ext cx="100584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148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quarterly hold-and-ship reorders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983480"/>
            <a:ext cx="100584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83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reorder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consumables replenish predictably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57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annual GMV routed to fulfillment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23042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share of the ~$5B unspent OTC pool captured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4498848"/>
            <a:ext cx="4160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583680" y="43799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3675888"/>
            <a:ext cx="4160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83680" y="35570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5321808"/>
            <a:ext cx="42062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0460" y="4910328"/>
            <a:ext cx="914400" cy="411480"/>
          </a:xfrm>
          <a:prstGeom prst="rect">
            <a:avLst/>
          </a:prstGeom>
          <a:solidFill>
            <a:srgbClr val="0E7C86">
              <a:alpha val="70000"/>
            </a:srgbClr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1860" y="4581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$0.5B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0420" y="5376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10%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46820" y="4293108"/>
            <a:ext cx="914400" cy="102870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18220" y="39639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$1.25B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26780" y="5376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25%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203180" y="3264408"/>
            <a:ext cx="914400" cy="205740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74580" y="2935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83140" y="5376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50%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5650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plan-funded volume — routed to you, every quarter.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END-TO-END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idle allowance to a box on the doorstep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208483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23160"/>
            <a:ext cx="2084832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1202436" y="2715768"/>
            <a:ext cx="777240" cy="7772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291" y="2925623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9359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8368" y="37947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 intake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picks goals &amp; budget. No PHI, ever.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15184" y="324612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816352" y="2423160"/>
            <a:ext cx="208483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16352" y="2423160"/>
            <a:ext cx="2084832" cy="9144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0148" y="2715768"/>
            <a:ext cx="777240" cy="777240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003" y="2925623"/>
            <a:ext cx="357530" cy="3575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16352" y="359359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926080" y="37947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filter + GTIN map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44368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resolve compatible SKUs across catalogs.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82896" y="324612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5084064" y="2423160"/>
            <a:ext cx="208483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4064" y="2423160"/>
            <a:ext cx="2084832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Shape 18"/>
          <p:cNvSpPr/>
          <p:nvPr/>
        </p:nvSpPr>
        <p:spPr>
          <a:xfrm>
            <a:off x="5737860" y="2715768"/>
            <a:ext cx="777240" cy="7772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715" y="2925623"/>
            <a:ext cx="357530" cy="3575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84064" y="359359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193792" y="37947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Budget-fit cart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21208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builds a compliant, allowance-optimized cart.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150608" y="324612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7351776" y="2423160"/>
            <a:ext cx="208483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51776" y="2423160"/>
            <a:ext cx="2084832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Shape 25"/>
          <p:cNvSpPr/>
          <p:nvPr/>
        </p:nvSpPr>
        <p:spPr>
          <a:xfrm>
            <a:off x="8005572" y="2715768"/>
            <a:ext cx="777240" cy="77724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427" y="2925623"/>
            <a:ext cx="357530" cy="35753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51776" y="359359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461504" y="37947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fulfills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479792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 — fast delivery, held-and-ship.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9418320" y="324612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30"/>
          <p:cNvSpPr/>
          <p:nvPr/>
        </p:nvSpPr>
        <p:spPr>
          <a:xfrm>
            <a:off x="9619488" y="2423160"/>
            <a:ext cx="208483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619488" y="2423160"/>
            <a:ext cx="2084832" cy="9144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38" name="Shape 32"/>
          <p:cNvSpPr/>
          <p:nvPr/>
        </p:nvSpPr>
        <p:spPr>
          <a:xfrm>
            <a:off x="10273284" y="2715768"/>
            <a:ext cx="777240" cy="777240"/>
          </a:xfrm>
          <a:prstGeom prst="ellipse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139" y="2925623"/>
            <a:ext cx="357530" cy="35753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19488" y="359359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9729216" y="37947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reorder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747504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reset with the benefit. Recurring GMV.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548640" y="5440680"/>
            <a:ext cx="11109960" cy="50292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44" name="Text 37"/>
          <p:cNvSpPr/>
          <p:nvPr/>
        </p:nvSpPr>
        <p:spPr>
          <a:xfrm>
            <a:off x="777240" y="5440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experience stays simple.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sophistication — catalog mapping, eligibility, budget solving — lives in our layer, invisible to the member and to your ops.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 — STRATEGIC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ideal fulfillment category: recurring, funded, health-adjacent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532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64535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Recurring consumables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70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health goods replenish on a predictable quarterly cycle — a fulfillment sweet spot, now with a guaranteed payer.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532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423160"/>
            <a:ext cx="822960" cy="8229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64535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is pre-funded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80960" y="2670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 pays. That removes the price-sensitivity and bad-debt friction of normal retail.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13632"/>
            <a:ext cx="5532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16552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4638751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demographic tailwind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4663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Americans turn 65 daily. MA keeps growing — the addressable base expands every year.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13632"/>
            <a:ext cx="5532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416552"/>
            <a:ext cx="822960" cy="8229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879" y="4638751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Feeds a health flywheel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80960" y="4663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naturally alongside existing pharmacy and health services as a recurring touchpoint with seniors.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VOLUME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than GMV — stickiness, and a healthier member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volume is the headline, but the recurring engagement is the moat. Each quarter is a trusted touchpoint that lifts member satisfaction and plan retention — positioning you as health infrastructure, not just a shipper.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971800"/>
            <a:ext cx="3611880" cy="1005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31012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3532327"/>
            <a:ext cx="378562" cy="378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member experience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47365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guided benefit members actually use — lifting CAHPS-style satisfaction the plans are graded 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5112" y="297180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2971800"/>
            <a:ext cx="3611880" cy="1005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5152" y="331012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351" y="3532327"/>
            <a:ext cx="378562" cy="3785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5152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retention &amp; loyalty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45152" y="47365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value builds the plan relationship — and locks in the fulfillment volume year over year.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01584" y="2971800"/>
            <a:ext cx="3611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01584" y="2971800"/>
            <a:ext cx="3611880" cy="1005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Shape 15"/>
          <p:cNvSpPr/>
          <p:nvPr/>
        </p:nvSpPr>
        <p:spPr>
          <a:xfrm>
            <a:off x="8421624" y="331012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823" y="3532327"/>
            <a:ext cx="378562" cy="3785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21624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Privacy-clean by design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421624" y="47365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PHI, no diagnoses, no BAA friction — a defensible posture for every party in the chain.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PROPOSING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focused fulfillment pilot — prove it on one slice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260604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611880" cy="1005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841248" cy="84124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817" y="2558857"/>
            <a:ext cx="386974" cy="386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Scope a pilot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7673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product category or one plan partner. Define SLAs, catalog feed &amp; the GTIN handoff.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611880" cy="260604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965960"/>
            <a:ext cx="3611880" cy="1005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Shape 9"/>
          <p:cNvSpPr/>
          <p:nvPr/>
        </p:nvSpPr>
        <p:spPr>
          <a:xfrm>
            <a:off x="4645152" y="2331720"/>
            <a:ext cx="841248" cy="84124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289" y="2558857"/>
            <a:ext cx="386974" cy="3869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Wire the rail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5152" y="37673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our cart output to your fulfillment. Held-and-ship, tracking, returns — end to end.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1965960"/>
            <a:ext cx="3611880" cy="260604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01584" y="1965960"/>
            <a:ext cx="3611880" cy="1005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Shape 14"/>
          <p:cNvSpPr/>
          <p:nvPr/>
        </p:nvSpPr>
        <p:spPr>
          <a:xfrm>
            <a:off x="8421624" y="2331720"/>
            <a:ext cx="841248" cy="84124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61" y="2558857"/>
            <a:ext cx="386974" cy="3869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1624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Measure &amp; scale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21624" y="37673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utilization lift, reorder rate &amp; unit economics. Expand categories and plans from there.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892040"/>
            <a:ext cx="11109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074920"/>
            <a:ext cx="566928" cy="56692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51" y="5227991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48920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ask: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to pressure-test fit, scope the pilot category, and align the right fulfillment teams on both sides.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Fulfillment Partnership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814255" y="6473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4754880" cy="4754880"/>
          </a:xfrm>
          <a:prstGeom prst="arc">
            <a:avLst>
              <a:gd name="adj1" fmla="val 10800000"/>
              <a:gd name="adj2" fmla="val 18000000"/>
            </a:avLst>
          </a:prstGeom>
          <a:ln w="889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822960"/>
            <a:ext cx="1143000" cy="114300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0E2233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9890" y="11315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INVITATION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4944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fulfillment rail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OTC benefit.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funded, recurring, multi-billion-dollar consumables stream — routed to the partner already built to carry it. We bring the demand and the intelligence; you bring the network.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5257800"/>
            <a:ext cx="3017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440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 ·  Endesign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endesignstudio@gmail.com   ·   healthbenefits.shop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HealthBenefits.Shop — Fulfillment Partnership Pitch</dc:title>
  <dc:subject>PptxGenJS Presentation</dc:subject>
  <dc:creator>Mike / Endesign</dc:creator>
  <cp:lastModifiedBy>Mike / Endesign</cp:lastModifiedBy>
  <cp:revision>1</cp:revision>
  <dcterms:created xsi:type="dcterms:W3CDTF">2026-06-16T15:07:57Z</dcterms:created>
  <dcterms:modified xsi:type="dcterms:W3CDTF">2026-06-16T15:07:57Z</dcterms:modified>
</cp:coreProperties>
</file>