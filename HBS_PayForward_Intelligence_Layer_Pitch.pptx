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480560"/>
            <a:ext cx="5120640" cy="51206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5303520"/>
            <a:ext cx="4023360" cy="40233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658368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87782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27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WITH VIJAY MANDALAM  ·  SEPTEMBER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1938528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HealthBenefits.Shop</a:t>
            </a:r>
            <a:endParaRPr lang="en-US" sz="42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pPr algn="l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PayForward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340156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intelligence layer that grows catalog economics — and makes the flex benefit smarter.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4224528"/>
            <a:ext cx="8183880" cy="1444752"/>
          </a:xfrm>
          <a:prstGeom prst="roundRect">
            <a:avLst>
              <a:gd name="adj" fmla="val 5063"/>
            </a:avLst>
          </a:prstGeom>
          <a:solidFill>
            <a:srgbClr val="16314A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4074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4700016"/>
            <a:ext cx="7680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PayForward built the rails. HealthBenefits.Shop helps each member decide what to buy — and moves more spend to the catalog, where the economics work.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 Ventures   ·   HealthBenefits.Shop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benefit is shrinking. Make it do more — and prove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plans are pulling back — enrollment and benefit richness are down, and OTC and flex-card lines are getting cut.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6888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64444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3101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Smaller benefit dollars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3767328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richness is down for 2026. Every OTC and flex dollar has to work harder than it used 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747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468880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25" y="264444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3101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is the mandate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81728" y="3767328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need proof the spend produces real health outcomes — not just dollars distributed.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747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46888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264444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31012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Condition-based is next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30768" y="3767328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2027 expectations point toward steering flex dollars to condition-relevant products.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550468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0E2233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550468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lead: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a smaller benefit do more — the right products, measurable outcomes, and more spend where it counts.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4"/>
              </a:lnSpc>
              <a:buNone/>
            </a:pPr>
            <a:r>
              <a:rPr lang="en-US" sz="2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purchase has a margin — and they're not the same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1790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these economics far better than we do.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084831"/>
            <a:ext cx="4434840" cy="1847088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RETAIL PURCHASE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Thin, by design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3346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what payment rails earn.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4920" y="2084831"/>
            <a:ext cx="20574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74920" y="2679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2084831"/>
            <a:ext cx="4434840" cy="1847088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CATALOG PURCHASE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26883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Materially richer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406640" y="3346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what a product relationship earns.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08792" cy="1097280"/>
          </a:xfrm>
          <a:prstGeom prst="roundRect">
            <a:avLst>
              <a:gd name="adj" fmla="val 8696"/>
            </a:avLst>
          </a:prstGeom>
          <a:solidFill>
            <a:srgbClr val="0E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PayForward has spent years moving member spend toward the catalog. The problem isn't the catalog, and it isn't the payment rail — </a:t>
            </a:r>
            <a:r>
              <a:rPr lang="en-US" sz="12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 has no compelling reason to choose it over Walgreens or Walmart. We think we can give them one.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SPEND LEAKS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flex experience is spend-to-spend, not smart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OTC and food, members default to the store — the catalog isn't easier, or more relevant to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77440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96" y="253544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store is easier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2688" y="320040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Familiar, immediate, and already in their routine. The catalog isn't personalized or obviously better.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237744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36" y="253544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Spend-to-spend, not condition-based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81728" y="320040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buy whatever — not what supports their conditions. The health value gets lost.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03120"/>
            <a:ext cx="34747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0768" y="2377440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776" y="253544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OTC + food, one clunky benefit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30768" y="320040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five benefit types and cluttered badges, with no guidance — so members take the easy path: retail.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800600"/>
            <a:ext cx="10908792" cy="1280160"/>
          </a:xfrm>
          <a:prstGeom prst="roundRect">
            <a:avLst>
              <a:gd name="adj" fmla="val 6429"/>
            </a:avLst>
          </a:prstGeom>
          <a:solidFill>
            <a:srgbClr val="0E2233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5840" y="5102352"/>
            <a:ext cx="685800" cy="685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5266944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489204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no one answers today: 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“Given my health needs and my benefit, what should I buy?”  That's the gap our intelligence fills.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VALUE — THE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4"/>
              </a:lnSpc>
              <a:buNone/>
            </a:pPr>
            <a:r>
              <a:rPr lang="en-US" sz="26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make the catalog the smart, easy choice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9646920" y="457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DEVELOPMENT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Condition-based, personalized, reminder-driven guidance members actually prefer — embedded in the PayForward experience.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41" y="2750881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578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Condition-based discovery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63040" y="28986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shop by goal, not diagnosis — the right OTC and food surfaced first.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538728"/>
            <a:ext cx="603504" cy="60350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41" y="3683569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5112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Personalized carts &amp; reorder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63040" y="38313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list persists quarter to quarter — no PHI, no cookies.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4471416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1" y="461625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4439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Reminders &amp; re-engagement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47640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nudges bring members back to the catalog on cadence.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" y="5404104"/>
            <a:ext cx="603504" cy="60350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41" y="5548945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376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Retail-to-catalog conversion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463040" y="56967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relevant catalog trip is spend that didn't leak to retail.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66560" y="1691640"/>
            <a:ext cx="4782312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766560" y="1691640"/>
            <a:ext cx="4782312" cy="868680"/>
          </a:xfrm>
          <a:prstGeom prst="roundRect">
            <a:avLst>
              <a:gd name="adj" fmla="val 9474"/>
            </a:avLst>
          </a:prstGeom>
          <a:solidFill>
            <a:srgbClr val="0E2233"/>
          </a:solidFill>
          <a:ln/>
        </p:spPr>
      </p:sp>
      <p:sp>
        <p:nvSpPr>
          <p:cNvPr id="25" name="Shape 19"/>
          <p:cNvSpPr/>
          <p:nvPr/>
        </p:nvSpPr>
        <p:spPr>
          <a:xfrm>
            <a:off x="6766560" y="2286000"/>
            <a:ext cx="4782312" cy="274320"/>
          </a:xfrm>
          <a:prstGeom prst="rect">
            <a:avLst/>
          </a:prstGeom>
          <a:solidFill>
            <a:srgbClr val="0E2233"/>
          </a:solidFill>
          <a:ln/>
        </p:spPr>
      </p:sp>
      <p:sp>
        <p:nvSpPr>
          <p:cNvPr id="26" name="Text 20"/>
          <p:cNvSpPr/>
          <p:nvPr/>
        </p:nvSpPr>
        <p:spPr>
          <a:xfrm>
            <a:off x="7040880" y="18105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Personalized Cart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040880" y="2157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for:  Heart health &amp; daily wellness</a:t>
            </a:r>
            <a:endParaRPr lang="en-US" sz="11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280720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52360" y="2770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Joint-support supplement</a:t>
            </a:r>
            <a:endParaRPr lang="en-US" sz="12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337413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3337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Heart-healthy grocery box</a:t>
            </a:r>
            <a:endParaRPr lang="en-US" sz="12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3941064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452360" y="3904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sleeve</a:t>
            </a:r>
            <a:endParaRPr lang="en-US" sz="12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4507992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52360" y="44714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Low-sodium pantry staples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7059168" y="5138928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E6F1F2"/>
          </a:solidFill>
          <a:ln/>
        </p:spPr>
      </p:sp>
      <p:sp>
        <p:nvSpPr>
          <p:cNvPr id="37" name="Text 27"/>
          <p:cNvSpPr/>
          <p:nvPr/>
        </p:nvSpPr>
        <p:spPr>
          <a:xfrm>
            <a:off x="7223760" y="51389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PayForward app  </a:t>
            </a:r>
            <a:pPr indent="0" marL="0">
              <a:buNone/>
            </a:pPr>
            <a:r>
              <a:rPr lang="en-US" sz="1200" dirty="0">
                <a:solidFill>
                  <a:srgbClr val="0B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OTC + food, one cart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39" name="Text 29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REAL — AND IN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concept — an early build on real catalog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condition-based, budget-fit engine at healthbenefits.shop — the same intelligence that embeds inside PayForward.</a:t>
            </a:r>
            <a:endParaRPr lang="en-US" sz="1450" dirty="0"/>
          </a:p>
        </p:txBody>
      </p:sp>
      <p:pic>
        <p:nvPicPr>
          <p:cNvPr id="5" name="Image 0" descr="/tmp/shot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1965960"/>
            <a:ext cx="7315200" cy="23368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DA0B3">
                <a:alpha val="3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2441448" y="1965960"/>
            <a:ext cx="7315200" cy="2336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1" descr="/tmp/shot_h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4443984"/>
            <a:ext cx="7315200" cy="18415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8DA0B3">
                <a:alpha val="30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2441448" y="4443984"/>
            <a:ext cx="7315200" cy="1841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FIT — COMPLEMENT, NOT REPLACE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side brings what it does best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embeds inside PayForward's existing technology — nothing gets rebuilt.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50592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60860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PayForward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2461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Health-plan relationships &amp; distribution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eligibility, purse logic &amp; balances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fulfillment &amp; the FIS payment rail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app, compliance &amp; reporting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45352" y="2148840"/>
            <a:ext cx="53035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2450592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2608600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8835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HealthBenefits.Shop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65392" y="32461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Condition-to-product intelligence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eligible-product recommendations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discovery &amp; simplified UX</a:t>
            </a:r>
            <a:endParaRPr lang="en-US" sz="1300" dirty="0"/>
          </a:p>
          <a:p>
            <a:pPr marL="228600" indent="-228600">
              <a:lnSpc>
                <a:spcPts val="17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logic &amp; engagement analytics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52578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E2233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benefits + commerce — embedded in the app you already run.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FLYWHEEL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24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PayForward's platform, fueled by our intelligence, ignites everyone's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920240" cy="2286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212848"/>
            <a:ext cx="694944" cy="69494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363" y="2379635"/>
            <a:ext cx="361371" cy="361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PayForward 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fueled by our intelligence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68880" y="19659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16352" y="1965960"/>
            <a:ext cx="1920240" cy="2286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212848"/>
            <a:ext cx="694944" cy="69494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787" y="2379635"/>
            <a:ext cx="361371" cy="3613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9504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Happier member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89504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right products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18304" y="19659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065776" y="1965960"/>
            <a:ext cx="1920240" cy="2286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78424" y="2212848"/>
            <a:ext cx="694944" cy="69494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211" y="2379635"/>
            <a:ext cx="361371" cy="36137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plan ★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138928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outcomes &amp; Stars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67728" y="19659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15200" y="1965960"/>
            <a:ext cx="1920240" cy="2286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27848" y="2212848"/>
            <a:ext cx="694944" cy="694944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635" y="2379635"/>
            <a:ext cx="361371" cy="36137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8352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Fulfillment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388352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orders flow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217152" y="19659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564624" y="1965960"/>
            <a:ext cx="1920240" cy="2286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77272" y="2212848"/>
            <a:ext cx="694944" cy="69494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4059" y="2379635"/>
            <a:ext cx="361371" cy="36137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37776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PayForward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9637776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catalog revenue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0E2233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230368"/>
            <a:ext cx="548640" cy="5486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737360" y="498348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compounds every quarter.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shopping → more catalog spend → better outcomes → a stickier, more valuable platform for PayForward.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16"/>
              </a:lnSpc>
              <a:buNone/>
            </a:pPr>
            <a:r>
              <a:rPr lang="en-US" sz="29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— and clean by design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that never touches PHI — engineered to survive a technical review.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50592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96" y="2621768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31012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by choice, not diagnosis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32688" y="3950208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“Shop by goal today?” — never “do you have X condition?” Guidance without a health disclosure.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4884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450592"/>
            <a:ext cx="713232" cy="713232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36" y="2621768"/>
            <a:ext cx="370881" cy="3708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31012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PHI, no cookies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81728" y="3950208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lists and reorder persist without storing health data or tracking cookies.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450592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376" y="2621768"/>
            <a:ext cx="370881" cy="3708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30768" y="3310128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SKU-level intelligence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30768" y="3950208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precision — an asset where category-level adjudication (FIS) leaves CMS audit exposure.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approach in progress with regulatory counsel; shown for direction.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70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Crawl, walk, run — earn each step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we control; each rung has to earn the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Crawl · one undeniable moment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5237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one member experience on the catalog we already have — a senior, expiring benefit, guided to the right kit. No plan, no integration.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337560"/>
            <a:ext cx="603504" cy="60350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37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 · prove it on their world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08760" y="36667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it on a PayForward-representative setup — their benefit shape, a sample catalog. A sandbox: no live members, no PHI, no production.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80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· one plan, live &amp; measured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508760" y="48097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 plan, a real cohort in the live experience, measured over months — once the earlier steps have earned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0" y="2194560"/>
            <a:ext cx="4690872" cy="3520440"/>
          </a:xfrm>
          <a:prstGeom prst="roundRect">
            <a:avLst>
              <a:gd name="adj" fmla="val 2338"/>
            </a:avLst>
          </a:prstGeom>
          <a:solidFill>
            <a:srgbClr val="0E22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8DA0B3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2194560"/>
            <a:ext cx="4690872" cy="3520440"/>
          </a:xfrm>
          <a:prstGeom prst="roundRect">
            <a:avLst>
              <a:gd name="adj" fmla="val 2338"/>
            </a:avLst>
          </a:prstGeom>
          <a:solidFill>
            <a:srgbClr val="0E22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2487168"/>
            <a:ext cx="658368" cy="65836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6048" y="2645176"/>
            <a:ext cx="342351" cy="34235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001000" y="25420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measure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223760" y="30723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run-stage scorecard — once we're live with a plan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223760" y="3611880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conversion &amp; share of spend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&amp; total utilization (OTC + food)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catalog revenue per member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reorder rate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+ item-level data captured — the moat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008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HealthBenefits.Shop   ·   PayForward Partnership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321040" y="643737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· 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480560"/>
            <a:ext cx="5120640" cy="5120640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5303520"/>
            <a:ext cx="4023360" cy="40233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658368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877824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3736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make one member moment undeniably better.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9052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the conversation internal: this deck and our notes.</a:t>
            </a:r>
            <a:endParaRPr lang="en-US" sz="14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working session —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bring one real member moment to life (a senior, benefit about to expire, unsure what to buy) on a PayForward-representative setup. No integration, no data lift — just your team's read on whether it's right for your members.</a:t>
            </a:r>
            <a:endParaRPr lang="en-US" sz="1400" dirty="0"/>
          </a:p>
          <a:p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lands — 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moment becomes the seed of the pilot.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5120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already care about your members. We make sure they actually use the benefit — because the experience has to work, or it goes unused.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 Ventures   ·   HealthBenefits.Shop   ·   endesignstudio@gmail.com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2026-09-22T14:38:18Z</dcterms:created>
  <dcterms:modified xsi:type="dcterms:W3CDTF">2026-09-22T14:38:18Z</dcterms:modified>
</cp:coreProperties>
</file>